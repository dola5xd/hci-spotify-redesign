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iro" pitchFamily="2" charset="-78"/>
      <p:regular r:id="rId13"/>
      <p:bold r:id="rId14"/>
    </p:embeddedFont>
    <p:embeddedFont>
      <p:font typeface="Cairo Medium" pitchFamily="2" charset="-78"/>
      <p:regular r:id="rId15"/>
      <p:bold r:id="rId16"/>
    </p:embeddedFont>
    <p:embeddedFont>
      <p:font typeface="Cairo SemiBold" pitchFamily="2" charset="-78"/>
      <p:regular r:id="rId17"/>
      <p:bold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9.fntdata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schemas.openxmlformats.org/officeDocument/2006/relationships/font" Target="fonts/font10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6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 /><Relationship Id="rId3" Type="http://schemas.openxmlformats.org/officeDocument/2006/relationships/image" Target="../media/image3.png" /><Relationship Id="rId7" Type="http://schemas.openxmlformats.org/officeDocument/2006/relationships/image" Target="../media/image2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9.png" /><Relationship Id="rId11" Type="http://schemas.openxmlformats.org/officeDocument/2006/relationships/image" Target="../media/image9.png" /><Relationship Id="rId5" Type="http://schemas.openxmlformats.org/officeDocument/2006/relationships/image" Target="../media/image18.png" /><Relationship Id="rId10" Type="http://schemas.openxmlformats.org/officeDocument/2006/relationships/image" Target="../media/image23.png" /><Relationship Id="rId4" Type="http://schemas.openxmlformats.org/officeDocument/2006/relationships/image" Target="../media/image17.png" /><Relationship Id="rId9" Type="http://schemas.openxmlformats.org/officeDocument/2006/relationships/image" Target="../media/image2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200275"/>
            <a:ext cx="6240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Spotify Redesign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28975"/>
            <a:ext cx="5943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Enhancing User Experience through HCI Principles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00100" y="3914775"/>
            <a:ext cx="571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Adel Yasser Abdelwahab Ebied (C3)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00100" y="4162425"/>
            <a:ext cx="571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Helal Ashraf Helal Abdallah Elgamal (C5)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4410075"/>
            <a:ext cx="571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FFFFFF"/>
                </a:solidFill>
                <a:latin typeface="Cairo Medium"/>
                <a:ea typeface="Cairo Medium"/>
                <a:cs typeface="Cairo Medium"/>
                <a:sym typeface="Cairo Medium"/>
              </a:rPr>
              <a:t>Ahmed Abdelhakim Mohammed Abdelaliem Lokma (C1)</a:t>
            </a:r>
            <a:endParaRPr>
              <a:latin typeface="Cairo Medium"/>
              <a:ea typeface="Cairo Medium"/>
              <a:cs typeface="Cairo Medium"/>
              <a:sym typeface="Cairo Medium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6474" y="2761775"/>
            <a:ext cx="1362007" cy="13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957387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(System-Oriented + Recall-Based)</a:t>
            </a:r>
            <a:endParaRPr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58525" y="4167187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(Recognition-Based)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60508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Navigation reflects business priorities (Premium, Create), not user goals.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32898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Text-heavy layout increases cognitive load.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74808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User relies on memory to locate features.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96650" y="4538662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Simplified Navigation: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Matches user tasks (History vs Premium).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96650" y="526256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Visual Cards: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Support immediate recognition.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96650" y="568166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Reduced Cognitive Load: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Mimics natural recall patterns.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557462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281362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700462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58525" y="4491037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58525" y="5214937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58525" y="5634037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627050"/>
            <a:ext cx="271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Home Screen 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1462087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1925" y="1695125"/>
            <a:ext cx="2248575" cy="47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875" y="1695125"/>
            <a:ext cx="2198050" cy="475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4"/>
          <p:cNvCxnSpPr>
            <a:stCxn id="113" idx="3"/>
            <a:endCxn id="112" idx="1"/>
          </p:cNvCxnSpPr>
          <p:nvPr/>
        </p:nvCxnSpPr>
        <p:spPr>
          <a:xfrm>
            <a:off x="8713925" y="4073175"/>
            <a:ext cx="6579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" name="Google Shape;115;p14"/>
          <p:cNvSpPr txBox="1"/>
          <p:nvPr/>
        </p:nvSpPr>
        <p:spPr>
          <a:xfrm>
            <a:off x="558525" y="6117625"/>
            <a:ext cx="50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7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Task-Oriented)</a:t>
            </a:r>
            <a:endParaRPr sz="17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160635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(Aesthetic-Driven)</a:t>
            </a:r>
            <a:endParaRPr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47325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(Fitts’s Law)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19778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Controls lack visual priority; "Play" button blends in.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09625" y="23969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Low contrast background affects readability.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28160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Design prioritizes appearance over function.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09625" y="38447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Primary Control Emphasized: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Green, solid, larger Play button.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15216" y="4293808"/>
            <a:ext cx="5299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Improved Contrast: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Dark gray background for better readability.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00405" y="481787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Faster Execution: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Distinct targets reduce time to act.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19302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3493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27684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37971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7091" y="4265008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88080" y="47428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Now Playing 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38100" y="5915000"/>
            <a:ext cx="5048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7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Task-Oriented)</a:t>
            </a:r>
            <a:endParaRPr sz="17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5063" y="1569225"/>
            <a:ext cx="2210025" cy="46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8049" y="1569225"/>
            <a:ext cx="2154301" cy="466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5"/>
          <p:cNvCxnSpPr>
            <a:stCxn id="138" idx="3"/>
            <a:endCxn id="139" idx="1"/>
          </p:cNvCxnSpPr>
          <p:nvPr/>
        </p:nvCxnSpPr>
        <p:spPr>
          <a:xfrm>
            <a:off x="8965087" y="3899950"/>
            <a:ext cx="633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15716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(System-Oriented)</a:t>
            </a:r>
            <a:endParaRPr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34385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(Task-Oriented)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19431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Long text lists require laborious scanning.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809625" y="23622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Small interaction targets increase error rate.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27813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Visual "noise" hides landmarks like album art.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809625" y="38100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Grid Layout: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Uses album art for instant recognition.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09625" y="42291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Large Touch Targets: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Reduces miss-taps (Fitts’s Law).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09625" y="4648188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Quick Access: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Visual hierarchy prioritizes frequent content.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18954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23145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27336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37623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418147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71500" y="4600563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Library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71500" y="5774025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8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Recognition-Based)</a:t>
            </a:r>
            <a:endParaRPr sz="18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425" y="1493504"/>
            <a:ext cx="2230500" cy="482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74200" y="1514175"/>
            <a:ext cx="2230500" cy="477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16"/>
          <p:cNvCxnSpPr>
            <a:stCxn id="163" idx="3"/>
            <a:endCxn id="164" idx="1"/>
          </p:cNvCxnSpPr>
          <p:nvPr/>
        </p:nvCxnSpPr>
        <p:spPr>
          <a:xfrm rot="10800000" flipH="1">
            <a:off x="9061925" y="3900071"/>
            <a:ext cx="512400" cy="6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18764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(Aesthetic-Driven)</a:t>
            </a:r>
            <a:endParaRPr sz="1800"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553750" y="343455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(Recognition-Based)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809625" y="22479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Dynamic backgrounds caused unpredictable contrast.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800063" y="27484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Social actions (Edit, Share) were hidden or small.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91875" y="380602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Structured Layout: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Dark theme focuses on data, not decoration.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91875" y="452992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Visible Actions: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Prominent "Find friend" and "Share" buttons.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00050" y="4989113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Activity Overview: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"Mostly played" section for quick recognition.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571500" y="22002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61938" y="270082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553750" y="37584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53750" y="448230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61925" y="4941488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Profile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71500" y="6124575"/>
            <a:ext cx="526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8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Activity-Oriented)</a:t>
            </a:r>
            <a:endParaRPr sz="18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9" name="Google Shape;2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7429" y="1876425"/>
            <a:ext cx="1963296" cy="42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4300" y="1830000"/>
            <a:ext cx="2006211" cy="434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18"/>
          <p:cNvCxnSpPr>
            <a:stCxn id="209" idx="3"/>
            <a:endCxn id="210" idx="1"/>
          </p:cNvCxnSpPr>
          <p:nvPr/>
        </p:nvCxnSpPr>
        <p:spPr>
          <a:xfrm>
            <a:off x="8960725" y="4000500"/>
            <a:ext cx="653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20288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(Recall-Based)</a:t>
            </a:r>
            <a:endParaRPr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34766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(Recognition-Based)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09625" y="24003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Dense, cluttered layout grouped disparate actions.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09625" y="28194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Flat list view for songs required high scanning effort.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09625" y="38481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Clear Visual Hierarchy: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Dedicated stats section guides the eye.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09625" y="435817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Album Cards: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Horizontal carousel allows fast browsing.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809625" y="491587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Key Actions Visible: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Separated content categories for clarity.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571500" y="23526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71500" y="27717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71500" y="38004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431055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486825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75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Artist Page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39000" y="5621175"/>
            <a:ext cx="492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8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Task-Oriented)</a:t>
            </a:r>
            <a:endParaRPr sz="18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86" name="Google Shape;1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5992" y="1936575"/>
            <a:ext cx="1873157" cy="405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47350" y="1942863"/>
            <a:ext cx="1873150" cy="4041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7"/>
          <p:cNvCxnSpPr>
            <a:stCxn id="186" idx="3"/>
            <a:endCxn id="187" idx="1"/>
          </p:cNvCxnSpPr>
          <p:nvPr/>
        </p:nvCxnSpPr>
        <p:spPr>
          <a:xfrm>
            <a:off x="9239149" y="3963600"/>
            <a:ext cx="5082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571500" y="204687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Old Design (System-Centered)</a:t>
            </a:r>
            <a:endParaRPr sz="1800">
              <a:solidFill>
                <a:srgbClr val="FF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571500" y="349467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New Design (Visibility of System Status)</a:t>
            </a:r>
            <a:endParaRPr sz="18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809625" y="24183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Full-screen text hid controls; context was lost.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809625" y="28374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No visual focus on the active lyric line.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09625" y="38661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Active Highlight: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Current line is high-contrast white.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809625" y="42852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Persistent Controls: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"Control Card" keeps playback accessible.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809625" y="4751975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Improved Awareness: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Constant feedback on system state.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571500" y="237072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571500" y="278982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381852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571500" y="4237625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571500" y="4704350"/>
            <a:ext cx="666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Lyrics Page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71500" y="162877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571500" y="5637800"/>
            <a:ext cx="526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Its now </a:t>
            </a:r>
            <a:r>
              <a:rPr lang="en-US" sz="1800" b="1">
                <a:solidFill>
                  <a:srgbClr val="FFFF00"/>
                </a:solidFill>
                <a:latin typeface="Cairo"/>
                <a:ea typeface="Cairo"/>
                <a:cs typeface="Cairo"/>
                <a:sym typeface="Cairo"/>
              </a:rPr>
              <a:t>(User-Centered + Activity-Oriented)</a:t>
            </a:r>
            <a:endParaRPr sz="1800">
              <a:solidFill>
                <a:srgbClr val="FFFF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675" y="1993562"/>
            <a:ext cx="1881619" cy="40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8875" y="2046875"/>
            <a:ext cx="1834718" cy="397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19"/>
          <p:cNvCxnSpPr>
            <a:stCxn id="232" idx="3"/>
            <a:endCxn id="233" idx="1"/>
          </p:cNvCxnSpPr>
          <p:nvPr/>
        </p:nvCxnSpPr>
        <p:spPr>
          <a:xfrm>
            <a:off x="8871294" y="4032412"/>
            <a:ext cx="867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571500" y="17240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Why Add This?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71500" y="378142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1DB954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HCI Principle: Recognition over Recall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809625" y="2095500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Transitions experience from Active Retrieval (Search) to Passive Recognition.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809625" y="28194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Significantly lowers mental effort to re-engage with content.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809625" y="41529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Automatic Display: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Shows past activity without prompting.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809625" y="48768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Natural Behavior: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Supports how users naturally revisit music.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809625" y="560070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Eliminates Recall:</a:t>
            </a:r>
            <a:r>
              <a:rPr lang="en-US" sz="15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 Users don't need to remember song names.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71500" y="20478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571500" y="27717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571500" y="41052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571500" y="48291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71500" y="5553075"/>
            <a:ext cx="66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History Feature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1050" y="1236600"/>
            <a:ext cx="2376615" cy="513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7614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17614"/>
            <a:ext cx="3492549" cy="260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17614"/>
            <a:ext cx="3492549" cy="2603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784223" y="3741539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Mobile Ergonomics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857250" y="4160639"/>
            <a:ext cx="2921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Applied Fitts’s Law by enlarging primary controls and placing them in the natural "Thumb Zone" to prevent errors.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562523" y="3741539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Cognitive Load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635549" y="4160639"/>
            <a:ext cx="2921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Prioritized Recognition over Recall. Replaced text lists with visual grids and history tabs for instant content identification.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8340822" y="3741539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Accessibility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8413849" y="4160639"/>
            <a:ext cx="29211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>
                <a:solidFill>
                  <a:srgbClr val="B3B3B3"/>
                </a:solidFill>
                <a:latin typeface="Cairo"/>
                <a:ea typeface="Cairo"/>
                <a:cs typeface="Cairo"/>
                <a:sym typeface="Cairo"/>
              </a:rPr>
              <a:t>Ensured WCAG Compliance. Structured dark themes and high-contrast typography make the app usable for everyone.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69" name="Google Shape;26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74825" y="312241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1224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312241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Overall Approach: User-Centered Design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22424" y="5421509"/>
            <a:ext cx="1891425" cy="2893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789799">
            <a:off x="4243397" y="5507801"/>
            <a:ext cx="1271730" cy="27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3185636" y="2552700"/>
            <a:ext cx="5820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DB954"/>
                </a:solidFill>
                <a:latin typeface="Cairo"/>
                <a:ea typeface="Cairo"/>
                <a:cs typeface="Cairo"/>
                <a:sym typeface="Cairo"/>
              </a:rPr>
              <a:t>Thank You!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3324225" y="4000500"/>
            <a:ext cx="554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Any Questions?</a:t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Helal Elgamal</cp:lastModifiedBy>
  <cp:revision>2</cp:revision>
  <dcterms:modified xsi:type="dcterms:W3CDTF">2025-12-22T20:52:12Z</dcterms:modified>
</cp:coreProperties>
</file>